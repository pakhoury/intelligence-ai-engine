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Intelligence 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8CD2"/>
                </a:solidFill>
                <a:latin typeface="Calibri"/>
              </a:defRPr>
            </a:pPr>
            <a:r>
              <a:t>AI-Powered Compliance &amp; Risk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Ask questions in plain English. Get answers grounded in your data and policies.</a:t>
            </a:r>
            <a:br/>
            <a:r>
              <a:t>Every answer is validated, auditable, and regulator-ready.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Pranab Akhoury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1A3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88888"/>
                </a:solidFill>
                <a:latin typeface="Calibri"/>
              </a:defRPr>
            </a:pPr>
            <a:r>
              <a:t>Compliance teams spend hours getting answers that should take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3500" cy="201168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A3A"/>
                </a:solidFill>
                <a:latin typeface="Calibri"/>
              </a:defRPr>
            </a:pPr>
            <a:r>
              <a:t>Manual Report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Analysts write SQL queries by hand, cross-reference policy documents, and compile answers into spreadsheets. A single question can take 30-60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63500" cy="201168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A3A"/>
                </a:solidFill>
                <a:latin typeface="Calibri"/>
              </a:defRPr>
            </a:pPr>
            <a:r>
              <a:t>Inconsistent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Two analysts answering the same question may use different formulas, different date ranges, or different filters — producing different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63500" cy="201168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A3A"/>
                </a:solidFill>
                <a:latin typeface="Calibri"/>
              </a:defRPr>
            </a:pPr>
            <a:r>
              <a:t>Audit Trail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When a regulator asks "how did you calculate this number?", the answer is often buried in email threads and local spreadsheets. Reproducing it takes days.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63500" cy="201168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A3A"/>
                </a:solidFill>
                <a:latin typeface="Calibri"/>
              </a:defRPr>
            </a:pPr>
            <a:r>
              <a:t>Scaling Pain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As tables, documents, and regulatory requirements grow, manual processes break. Adding a new metric means updating multiple reports and training analysts.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1A3A"/>
                </a:solidFill>
                <a:latin typeface="Calibri"/>
              </a:defRPr>
            </a:pPr>
            <a:r>
              <a:t>The Solution: Ask a Question, Get a Trusted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920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920240" cy="635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737360"/>
            <a:ext cx="731520" cy="731520"/>
          </a:xfrm>
          <a:prstGeom prst="ellipse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CD2"/>
                </a:solidFill>
                <a:latin typeface="Calibri"/>
              </a:defRPr>
            </a:pPr>
            <a: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Type your question</a:t>
            </a:r>
            <a:br/>
            <a:r>
              <a:t>in plain English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23160" y="2468880"/>
            <a:ext cx="274320" cy="18288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1920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463040"/>
            <a:ext cx="1920240" cy="635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37560" y="1737360"/>
            <a:ext cx="731520" cy="731520"/>
          </a:xfrm>
          <a:prstGeom prst="ellipse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2B5C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71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AI picks the best</a:t>
            </a:r>
            <a:br/>
            <a:r>
              <a:t>data strategy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09160" y="2468880"/>
            <a:ext cx="274320" cy="18288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463040"/>
            <a:ext cx="1920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463040"/>
            <a:ext cx="1920240" cy="63500"/>
          </a:xfrm>
          <a:prstGeom prst="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23560" y="1737360"/>
            <a:ext cx="731520" cy="731520"/>
          </a:xfrm>
          <a:prstGeom prst="ellipse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36B"/>
                </a:solidFill>
                <a:latin typeface="Calibri"/>
              </a:defRPr>
            </a:pPr>
            <a:r>
              <a:t>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971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Data + Docs retrieved</a:t>
            </a:r>
            <a:br/>
            <a:r>
              <a:t>Metrics compiled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95160" y="2468880"/>
            <a:ext cx="274320" cy="18288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1463040"/>
            <a:ext cx="1920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1463040"/>
            <a:ext cx="1920240" cy="63500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09560" y="1737360"/>
            <a:ext cx="731520" cy="731520"/>
          </a:xfrm>
          <a:prstGeom prst="ellipse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026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971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5 automated checks</a:t>
            </a:r>
            <a:br/>
            <a:r>
              <a:t>+ AI quality review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81160" y="2468880"/>
            <a:ext cx="274320" cy="18288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0" y="1463040"/>
            <a:ext cx="1920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463040"/>
            <a:ext cx="1920240" cy="635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95560" y="1737360"/>
            <a:ext cx="731520" cy="731520"/>
          </a:xfrm>
          <a:prstGeom prst="ellipse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CD2"/>
                </a:solidFill>
                <a:latin typeface="Calibri"/>
              </a:defRPr>
            </a:pPr>
            <a:r>
              <a:t>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971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Grounded answer</a:t>
            </a:r>
            <a:br/>
            <a:r>
              <a:t>with confidence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A3A"/>
                </a:solidFill>
                <a:latin typeface="Calibri"/>
              </a:defRPr>
            </a:pPr>
            <a:r>
              <a:t>What Makes This Different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54880"/>
            <a:ext cx="347472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CD2"/>
                </a:solidFill>
                <a:latin typeface="Calibri"/>
              </a:defRPr>
            </a:pPr>
            <a:r>
              <a:t>Not a chatbot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Every answer is backed by real data from your databases and actual policy documents — not LLM imagination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39" y="4754880"/>
            <a:ext cx="347472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19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CD2"/>
                </a:solidFill>
                <a:latin typeface="Calibri"/>
              </a:defRPr>
            </a:pPr>
            <a:r>
              <a:t>Not a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19" y="52578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Handles questions that span multiple data sources, including questions that require chaining one source into another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8" y="4754880"/>
            <a:ext cx="347472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58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CD2"/>
                </a:solidFill>
                <a:latin typeface="Calibri"/>
              </a:defRPr>
            </a:pPr>
            <a:r>
              <a:t>Not a report builder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58" y="52578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Answers come in seconds, not hours. Registered KPIs produce the exact same SQL every time, eliminating analyst variance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Calibri"/>
              </a:defRPr>
            </a:pPr>
            <a:r>
              <a:t>From hours to seconds. From inconsistent to deterministic.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137160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508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8CD2"/>
                </a:solidFill>
                <a:latin typeface="Calibri"/>
              </a:defRPr>
            </a:pPr>
            <a:r>
              <a:t>&lt; 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Average query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560320" cy="137160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560320" cy="50800"/>
          </a:xfrm>
          <a:prstGeom prst="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36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Reproducible metric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137160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560320" cy="50800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A02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23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Registered KPIs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560320" cy="137160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645920"/>
            <a:ext cx="2560320" cy="508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8CD2"/>
                </a:solidFill>
                <a:latin typeface="Calibri"/>
              </a:defRPr>
            </a:pPr>
            <a:r>
              <a:t>379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23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Automated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74720"/>
            <a:ext cx="5303520" cy="292608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3E3E"/>
                </a:solidFill>
                <a:latin typeface="Calibri"/>
              </a:defRPr>
            </a:pPr>
            <a:r>
              <a:t>Before: Manual 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30-60 minutes per compliance question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Analyst writes SQL, cross-references docs manually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Different analysts = different answers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Audit trail = email threads + spreadsheets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Adding a new KPI = weeks of development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74720"/>
            <a:ext cx="5303520" cy="292608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566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36B"/>
                </a:solidFill>
                <a:latin typeface="Calibri"/>
              </a:defRPr>
            </a:pPr>
            <a:r>
              <a:t>After: AI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1148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2-5 seconds per question, any complexity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AI selects strategy, generates SQL, retrieves docs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Registered metrics: same question = same SQL, always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Full audit trail in PostgreSQL, queryable per session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Adding a KPI = one YAML definition + one golden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1A3A"/>
                </a:solidFill>
                <a:latin typeface="Calibri"/>
              </a:defRPr>
            </a:pPr>
            <a:r>
              <a:t>What You Can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3566160" cy="2468880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566160" cy="50800"/>
          </a:xfrm>
          <a:prstGeom prst="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36B"/>
                </a:solidFill>
                <a:latin typeface="Calibri"/>
              </a:defRPr>
            </a:pPr>
            <a:r>
              <a:t>Metric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onsolas"/>
              </a:defRPr>
            </a:pPr>
            <a:r>
              <a:t>"What is the compliance effectiveness score?"</a:t>
            </a:r>
            <a:br/>
            <a:r>
              <a:t>"Show me the department risk scores"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Deterministic SQL — same answer every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88720"/>
            <a:ext cx="3566160" cy="24688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188720"/>
            <a:ext cx="3566160" cy="508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CD2"/>
                </a:solidFill>
                <a:latin typeface="Calibri"/>
              </a:defRPr>
            </a:pPr>
            <a:r>
              <a:t>Data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onsolas"/>
              </a:defRPr>
            </a:pPr>
            <a:r>
              <a:t>"How many critical violations in Q1 2024?"</a:t>
            </a:r>
            <a:br/>
            <a:r>
              <a:t>"Top 5 departments by number of violations"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AI generates and validates SQL against your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188720"/>
            <a:ext cx="3566160" cy="24688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188720"/>
            <a:ext cx="3566160" cy="50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B5C"/>
                </a:solidFill>
                <a:latin typeface="Calibri"/>
              </a:defRPr>
            </a:pPr>
            <a:r>
              <a:t>Policy Lookups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6916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onsolas"/>
              </a:defRPr>
            </a:pPr>
            <a:r>
              <a:t>"What is our KYC policy for high-risk customers?"</a:t>
            </a:r>
            <a:br/>
            <a:r>
              <a:t>"Differences between AML and KYC policies"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Semantic search across all compliance documents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31920"/>
            <a:ext cx="3566160" cy="2468880"/>
          </a:xfrm>
          <a:prstGeom prst="roundRect">
            <a:avLst/>
          </a:prstGeom>
          <a:solidFill>
            <a:srgbClr val="FE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3566160" cy="50800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026"/>
                </a:solidFill>
                <a:latin typeface="Calibri"/>
              </a:defRPr>
            </a:pPr>
            <a:r>
              <a:t>Hybrid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onsolas"/>
              </a:defRPr>
            </a:pPr>
            <a:r>
              <a:t>"What is the compliance cost for 2024?"</a:t>
            </a:r>
            <a:br/>
            <a:r>
              <a:t>(needs formula from docs + data from database)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Chains documents into SQL automatically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3931920"/>
            <a:ext cx="3566160" cy="24688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3931920"/>
            <a:ext cx="3566160" cy="508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CD2"/>
                </a:solidFill>
                <a:latin typeface="Calibri"/>
              </a:defRPr>
            </a:pPr>
            <a:r>
              <a:t>Trend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onsolas"/>
              </a:defRPr>
            </a:pPr>
            <a:r>
              <a:t>"How have violations changed over the last 4 quarters?"</a:t>
            </a:r>
            <a:br/>
            <a:r>
              <a:t>"Average resolution time for critical violations"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Time-series queries with metric thresholds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3931920"/>
            <a:ext cx="3566160" cy="24688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80" y="3931920"/>
            <a:ext cx="3566160" cy="50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B5C"/>
                </a:solidFill>
                <a:latin typeface="Calibri"/>
              </a:defRPr>
            </a:pPr>
            <a:r>
              <a:t>Follow-up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onsolas"/>
              </a:defRPr>
            </a:pPr>
            <a:r>
              <a:t>"Break that down by department"</a:t>
            </a:r>
            <a:br/>
            <a:r>
              <a:t>"What does our policy say about those?"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Multi-turn conversations with context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1A3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88888"/>
                </a:solidFill>
                <a:latin typeface="Calibri"/>
              </a:defRPr>
            </a:pPr>
            <a:r>
              <a:t>The platform decides the best strategy for each question automatically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9202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920240" cy="635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8CD2"/>
                </a:solidFill>
                <a:latin typeface="Calibri"/>
              </a:defRPr>
            </a:pPr>
            <a:r>
              <a:t>Your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Plain English, any complexity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645920"/>
            <a:ext cx="19202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645920"/>
            <a:ext cx="1920240" cy="635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2B5C"/>
                </a:solidFill>
                <a:latin typeface="Calibri"/>
              </a:defRPr>
            </a:pPr>
            <a:r>
              <a:t>Smart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AI classifies into 1 of 5 strategies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645920"/>
            <a:ext cx="19202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645920"/>
            <a:ext cx="1920240" cy="63500"/>
          </a:xfrm>
          <a:prstGeom prst="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36B"/>
                </a:solidFill>
                <a:latin typeface="Calibri"/>
              </a:defRPr>
            </a:pPr>
            <a:r>
              <a:t>Data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SQL from Oracle + documents from vector 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645920"/>
            <a:ext cx="19202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1645920"/>
            <a:ext cx="1920240" cy="63500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026"/>
                </a:solidFill>
                <a:latin typeface="Calibri"/>
              </a:defRPr>
            </a:pPr>
            <a:r>
              <a:t>Quality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5 automated validators + AI reviewer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645920"/>
            <a:ext cx="19202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1645920"/>
            <a:ext cx="1920240" cy="635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8CD2"/>
                </a:solidFill>
                <a:latin typeface="Calibri"/>
              </a:defRPr>
            </a:pPr>
            <a:r>
              <a:t>Trusted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With confidence score + full audit trail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423160" y="2331720"/>
            <a:ext cx="182880" cy="13716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4526280" y="2331720"/>
            <a:ext cx="182880" cy="13716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6629400" y="2331720"/>
            <a:ext cx="182880" cy="13716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8732520" y="2331720"/>
            <a:ext cx="182880" cy="13716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A3A"/>
                </a:solidFill>
                <a:latin typeface="Calibri"/>
              </a:defRPr>
            </a:pPr>
            <a:r>
              <a:t>Key Innovation: Two Paths to SQL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06240"/>
            <a:ext cx="5303520" cy="2286000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36B"/>
                </a:solidFill>
                <a:latin typeface="Calibri"/>
              </a:defRPr>
            </a:pPr>
            <a:r>
              <a:t>Registered Metrics (7 KPIs)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548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Compliance Effectiveness Score, Audit Resolution Rate,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Regulatory Exposure, Department Risk Score, and 3 more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SQL generated from structured definitions — no AI interpretation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Same question = same SQL, every time. Fully reproducible.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206240"/>
            <a:ext cx="530352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D2"/>
                </a:solidFill>
                <a:latin typeface="Calibri"/>
              </a:defRPr>
            </a:pPr>
            <a:r>
              <a:t>Ad-hoc Questions (anything else)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7548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"Top 5 departments by loss amount"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"Which departments have both violations and audit findings?"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AI generates SQL with 3-layer validation + retry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Column references checked before execution. Errors self-correct.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1A3A"/>
                </a:solidFill>
                <a:latin typeface="Calibri"/>
              </a:defRPr>
            </a:pPr>
            <a:r>
              <a:t>Built for Regulators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88888"/>
                </a:solidFill>
                <a:latin typeface="Calibri"/>
              </a:defRPr>
            </a:pPr>
            <a:r>
              <a:t>Every answer can be fully explained: what data was used, how it was calculated, and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03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63500" cy="2103120"/>
          </a:xfrm>
          <a:prstGeom prst="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36B"/>
                </a:solidFill>
                <a:latin typeface="Calibri"/>
              </a:defRPr>
            </a:pPr>
            <a:r>
              <a:t>Reproducibility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Registered metrics produce identical SQL from identical questions. No analyst variance. No "it depends on who you ask." Compile the same metric today and next year — same 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63500" cy="210312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CD2"/>
                </a:solidFill>
                <a:latin typeface="Calibri"/>
              </a:defRPr>
            </a:pPr>
            <a:r>
              <a:t>Full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Every query is logged in PostgreSQL with: the question, routing decision, SQL executed, data returned, answer generated, review score, and confidence level. Queryable via /audit/{session_id}.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03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63500" cy="2103120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26"/>
                </a:solidFill>
                <a:latin typeface="Calibri"/>
              </a:defRPr>
            </a:pPr>
            <a:r>
              <a:t>Confidence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Every answer includes a trust signal: HIGH (deterministic metric, validated), MEDIUM (AI-generated SQL, good review), LOW (retries or validation issues). Users know exactly how much to trust each response.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5303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63500" cy="210312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3E3E"/>
                </a:solidFill>
                <a:latin typeface="Calibri"/>
              </a:defRPr>
            </a:pPr>
            <a:r>
              <a:t>Data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PII (emails, SSNs, phone numbers, card numbers) is automatically detected and redacted before answers reach users. SQL injection is blocked at 3 layers. All queries are SELECT-only by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Users See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73152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Question: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43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"What is the compliance effectiveness score for the Legal department?"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6858000" cy="274320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6400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The Compliance Effectiveness Score for the Legal department is 55.0%, which is rated as Warning (60-80% threshold).</a:t>
            </a:r>
            <a:br/>
            <a:br/>
            <a:r>
              <a:t>This is based on the compliance_effectiveness_score metric (v1.0): 55 out of 100 violations in Legal have been resolved. The department should prioritize closing open violations to improve this score above 80%.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103120"/>
            <a:ext cx="4114800" cy="50292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1762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1762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D2"/>
                </a:solidFill>
                <a:latin typeface="Calibri"/>
              </a:defRPr>
            </a:pPr>
            <a:r>
              <a:t>sql_only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651760"/>
            <a:ext cx="4114800" cy="50292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724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7249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36B"/>
                </a:solidFill>
                <a:latin typeface="Calibri"/>
              </a:defRPr>
            </a:pPr>
            <a:r>
              <a:t>compliance_effectiveness</a:t>
            </a:r>
            <a:br/>
            <a:r>
              <a:t>_score v1.0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200400"/>
            <a:ext cx="4114800" cy="50292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2735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Compiled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273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36B"/>
                </a:solidFill>
                <a:latin typeface="Calibri"/>
              </a:defRPr>
            </a:pPr>
            <a:r>
              <a:t>Yes (deterministic)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749040"/>
            <a:ext cx="4114800" cy="50292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8221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8221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36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297680"/>
            <a:ext cx="4114800" cy="50292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3708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Review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3708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D2"/>
                </a:solidFill>
                <a:latin typeface="Calibri"/>
              </a:defRPr>
            </a:pPr>
            <a:r>
              <a:t>9.0 /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20640"/>
            <a:ext cx="11247120" cy="128016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26"/>
                </a:solidFill>
                <a:latin typeface="Calibri"/>
              </a:defRPr>
            </a:pPr>
            <a:r>
              <a:t>Audit Trail (available via /audit/{session_id})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Every step is recorded: cache check (miss) → context resolution → route decision (sql_only) → metric resolved (compliance_effectiveness_score@1.0) → SQL compiled deterministically → query executed → answer generated → reviewed (9.0/10) → confidence: HIGH → cached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1A3A"/>
                </a:solidFill>
                <a:latin typeface="Calibri"/>
              </a:defRPr>
            </a:pPr>
            <a:r>
              <a:t>Registered Business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88888"/>
                </a:solidFill>
                <a:latin typeface="Calibri"/>
              </a:defRPr>
            </a:pPr>
            <a:r>
              <a:t>These KPIs produce deterministic SQL — no AI interpretation, fully reproducible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1612880" cy="457200"/>
          </a:xfrm>
          <a:prstGeom prst="round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Business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508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Thresholds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965960"/>
            <a:ext cx="11612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A3A"/>
                </a:solidFill>
                <a:latin typeface="Calibri"/>
              </a:defRPr>
            </a:pPr>
            <a:r>
              <a:t>Compliance Effectiveness Score (%)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What % of violations have been resolved?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Closed violations / Total violations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Warning: &lt; 80%  |  Good: 80-95%  |  Excellent: &gt; 95%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587752"/>
            <a:ext cx="11612880" cy="566928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33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A3A"/>
                </a:solidFill>
                <a:latin typeface="Calibri"/>
              </a:defRPr>
            </a:pPr>
            <a:r>
              <a:t>Violation Severity Distribution (count)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33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How many violations at each severity level?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334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Count by Critical / High / Medium / 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6334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Alert if any Critical + Open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209544"/>
            <a:ext cx="11612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5526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A3A"/>
                </a:solidFill>
                <a:latin typeface="Calibri"/>
              </a:defRPr>
            </a:pPr>
            <a:r>
              <a:t>Audit Finding Resolution Rate (%)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2552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How effectively are audit findings addressed?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552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Resolved findings / Total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25526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Critical: &lt; 50%  |  Good: 75-90%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831336"/>
            <a:ext cx="11612880" cy="566928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7705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A3A"/>
                </a:solidFill>
                <a:latin typeface="Calibri"/>
              </a:defRPr>
            </a:pPr>
            <a:r>
              <a:t>Regulatory Exposure Index (USD)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8770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What is our financial exposure from open violations?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8770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Sum of financial impact, grouped by regulator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87705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Critical: &gt; $1M  |  Warning: &gt; $100K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453128"/>
            <a:ext cx="11612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988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A3A"/>
                </a:solidFill>
                <a:latin typeface="Calibri"/>
              </a:defRPr>
            </a:pPr>
            <a:r>
              <a:t>Department Risk Score (score)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498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Which department carries the most risk?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498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Weighted: violations + audit findings + risk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4988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Critical: &gt; 50  |  Warning: 20-50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5074920"/>
            <a:ext cx="11612880" cy="566928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120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A3A"/>
                </a:solidFill>
                <a:latin typeface="Calibri"/>
              </a:defRPr>
            </a:pPr>
            <a:r>
              <a:t>Control Coverage Ratio (%)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What % of requirements have active controls?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Requirements with controls / Total requirements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Critical: &lt; 70%  |  Good: 90%+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696712"/>
            <a:ext cx="11612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7424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A3A"/>
                </a:solidFill>
                <a:latin typeface="Calibri"/>
              </a:defRPr>
            </a:pPr>
            <a:r>
              <a:t>Mean Time to Resolution (days)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7424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How fast do we close violations?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742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Average days from violation to closure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7424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Critical: &gt; 90 days  |  Excellent: &lt; 15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1A3A"/>
                </a:solidFill>
                <a:latin typeface="Calibri"/>
              </a:defRPr>
            </a:pPr>
            <a:r>
              <a:t>Operational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88888"/>
                </a:solidFill>
                <a:latin typeface="Calibri"/>
              </a:defRPr>
            </a:pPr>
            <a:r>
              <a:t>Real-time monitoring of every aspect of the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566160" cy="508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CD2"/>
                </a:solidFill>
                <a:latin typeface="Calibri"/>
              </a:defRPr>
            </a:pPr>
            <a:r>
              <a:t>Request Volume &amp;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Track query volume, response times (p50/p95/p99), and error rates in real time. Alert when p95 exceeds 5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463040"/>
            <a:ext cx="3566160" cy="50800"/>
          </a:xfrm>
          <a:prstGeom prst="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36B"/>
                </a:solidFill>
                <a:latin typeface="Calibri"/>
              </a:defRPr>
            </a:pPr>
            <a:r>
              <a:t>Cache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574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Monitor cache hit rate to optimize cost. Target: 30%+ hit rate for recurring questions. Track cache TTL effectiveness.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463040"/>
            <a:ext cx="3566160" cy="50800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026"/>
                </a:solidFill>
                <a:latin typeface="Calibri"/>
              </a:defRPr>
            </a:pPr>
            <a:r>
              <a:t>LLM Usage &amp;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0574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Token consumption by pipeline stage, cost per request, and per-model breakdown. Track Groq quota burn rate against daily limits.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93192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931920"/>
            <a:ext cx="3566160" cy="508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CD2"/>
                </a:solidFill>
                <a:latin typeface="Calibri"/>
              </a:defRPr>
            </a:pPr>
            <a:r>
              <a:t>Answer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Review score distribution over time. Alert on sustained scores below 7.0. Track reflection loop frequency as a quality signal.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93192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3931920"/>
            <a:ext cx="3566160" cy="50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B5C"/>
                </a:solidFill>
                <a:latin typeface="Calibri"/>
              </a:defRPr>
            </a:pPr>
            <a:r>
              <a:t>Route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5262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Which strategies are being used. Shifts in distribution may indicate changing question patterns or prompt drift in the router.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93192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3931920"/>
            <a:ext cx="3566160" cy="508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3E3E"/>
                </a:solidFill>
                <a:latin typeface="Calibri"/>
              </a:defRPr>
            </a:pPr>
            <a:r>
              <a:t>Circuit Breaker &amp; Resilience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5262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LLM provider health, circuit breaker state, fallback activation rate. Alert when fallback model is serving more than 10% of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1A3A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356616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566160" cy="63500"/>
          </a:xfrm>
          <a:prstGeom prst="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1097280" cy="411480"/>
          </a:xfrm>
          <a:prstGeom prst="round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36B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7 registered compliance KPIs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5 routing strategies for hybrid queries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Deterministic SQL compiler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Full audit trail + confidence scoring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379 automated tests + eval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88720"/>
            <a:ext cx="356616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188720"/>
            <a:ext cx="3566160" cy="635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1097280" cy="411480"/>
          </a:xfrm>
          <a:prstGeom prst="round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CD2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Column-level pruning for wide tables (300+ cols)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Real-data evaluation with known answers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Per-request cost tracking in API response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Additional database dialect support (Snowflake)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Secrets manager integration (Vault)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188720"/>
            <a:ext cx="356616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188720"/>
            <a:ext cx="3566160" cy="635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1097280" cy="411480"/>
          </a:xfrm>
          <a:prstGeom prst="round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B5C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Multi-tenant deployment with RBAC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Semantic layer integration (DataHub / OpenMetadata)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Metric lineage and dependency tracking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Self-service metric registration portal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Natural language to dashboard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Intelligence 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8CD2"/>
                </a:solidFill>
                <a:latin typeface="Calibri"/>
              </a:defRPr>
            </a:pPr>
            <a:r>
              <a:t>From questions to trusted, auditable answers in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Ask any compliance or risk question in plain English</a:t>
            </a:r>
          </a:p>
          <a:p>
            <a:pPr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Registered KPIs computed deterministically — no AI guessing</a:t>
            </a:r>
          </a:p>
          <a:p>
            <a:pPr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Every answer validated by 5 automated checks + AI reviewer</a:t>
            </a:r>
          </a:p>
          <a:p>
            <a:pPr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Full audit trail for every response — regulator-ready</a:t>
            </a:r>
          </a:p>
          <a:p>
            <a:pPr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Confidence score on every answer — users know what to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Calibri"/>
              </a:defRPr>
            </a:pPr>
            <a:r>
              <a:t>Pranab Akhoury</a:t>
            </a:r>
            <a:br/>
            <a:r>
              <a:t>pranab.akhoury@gmail.com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